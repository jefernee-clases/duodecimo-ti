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DM Sans" pitchFamily="2" charset="0"/>
      <p:regular r:id="rId11"/>
    </p:embeddedFont>
    <p:embeddedFont>
      <p:font typeface="PT Serif" panose="020F0502020204030204" pitchFamily="18" charset="0"/>
      <p:regular r:id="rId12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9362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65653"/>
            <a:ext cx="7556421" cy="195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Diagnóstico del Sector Eléctrico y Orientaciones Políticas en Costa Rica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793790" y="4617125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análisis del estado actual, los desafíos, los actores clave y el camino hacia un futuro energético sostenible y competitivo para Costa Rica.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93790" y="5483066"/>
            <a:ext cx="1894642" cy="373142"/>
          </a:xfrm>
          <a:prstGeom prst="roundRect">
            <a:avLst>
              <a:gd name="adj" fmla="val 6383"/>
            </a:avLst>
          </a:prstGeom>
          <a:solidFill>
            <a:srgbClr val="FFDECC"/>
          </a:solidFill>
          <a:ln/>
        </p:spPr>
      </p:sp>
      <p:sp>
        <p:nvSpPr>
          <p:cNvPr id="6" name="Text 3"/>
          <p:cNvSpPr/>
          <p:nvPr/>
        </p:nvSpPr>
        <p:spPr>
          <a:xfrm>
            <a:off x="912852" y="5542598"/>
            <a:ext cx="165651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POLÍTICA ENERGÉTICA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787610" y="5475446"/>
            <a:ext cx="2003227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E04F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14293" y="5542598"/>
            <a:ext cx="174986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ENERGÍAS RENOVABLES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890016" y="5475446"/>
            <a:ext cx="1578650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E04F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16698" y="5542598"/>
            <a:ext cx="132528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COSTA RICA 2025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70679"/>
            <a:ext cx="7556421" cy="130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El Liderazgo Renovable de Costa Rica: Un Pilar Nacional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6280190" y="2270879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Costa Rica es reconocida mundialmente por su compromiso con la energía limpia. En 2025, el país reafirma su posición como referente global en generación renovable, aprovechando sus recursos naturales únicos.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3446740"/>
            <a:ext cx="3679031" cy="2437209"/>
          </a:xfrm>
          <a:prstGeom prst="roundRect">
            <a:avLst>
              <a:gd name="adj" fmla="val 1222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6478548" y="3645098"/>
            <a:ext cx="328231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98.6% Generación Renovable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6478548" y="4415433"/>
            <a:ext cx="328231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2025, casi la totalidad de la electricidad costarricense proviene de fuentes limpias: agua, geotermia, viento, biomasa y sol.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0157579" y="3446740"/>
            <a:ext cx="3679031" cy="2437209"/>
          </a:xfrm>
          <a:prstGeom prst="roundRect">
            <a:avLst>
              <a:gd name="adj" fmla="val 1222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10355937" y="3645098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Tarifas Estables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10355937" y="4089797"/>
            <a:ext cx="328231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gestión eficiente de los recursos limpios ha permitido mantener precios accesibles para hogares, empresas e industrias.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280190" y="6082308"/>
            <a:ext cx="7556421" cy="147649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6478548" y="6280666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Referente Global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6478548" y="6725364"/>
            <a:ext cx="715970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Ante los retos climáticos mundiales, Costa Rica se consolida como modelo de generación renovable y descarbonización.</a:t>
            </a:r>
            <a:endParaRPr lang="en-US" sz="1550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E36A9BD6-7F4A-C7B4-3C1D-70240C663195}"/>
              </a:ext>
            </a:extLst>
          </p:cNvPr>
          <p:cNvSpPr/>
          <p:nvPr/>
        </p:nvSpPr>
        <p:spPr>
          <a:xfrm>
            <a:off x="12857356" y="7677864"/>
            <a:ext cx="1694985" cy="42945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9647"/>
            <a:ext cx="12768858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El Desafío de la Demanda Creciente y la Modernización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650915" y="2888575"/>
            <a:ext cx="7241381" cy="3401378"/>
          </a:xfrm>
          <a:prstGeom prst="roundRect">
            <a:avLst>
              <a:gd name="adj" fmla="val 875"/>
            </a:avLst>
          </a:prstGeom>
          <a:solidFill>
            <a:srgbClr val="E04F00"/>
          </a:solidFill>
          <a:ln/>
        </p:spPr>
      </p:sp>
      <p:sp>
        <p:nvSpPr>
          <p:cNvPr id="4" name="Text 2"/>
          <p:cNvSpPr/>
          <p:nvPr/>
        </p:nvSpPr>
        <p:spPr>
          <a:xfrm>
            <a:off x="849273" y="3086933"/>
            <a:ext cx="4080391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¿Por qué necesitamos más energía?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849273" y="3610928"/>
            <a:ext cx="684466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consumo eléctrico en Costa Rica está creciendo rápidamente. Para 2040, se necesitarán </a:t>
            </a:r>
            <a:r>
              <a:rPr lang="en-US" sz="15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2,495 MW adicionales</a:t>
            </a: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lo que representa un aumento del </a:t>
            </a:r>
            <a:r>
              <a:rPr lang="en-US" sz="15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71.3%</a:t>
            </a: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en la capacidad de generación actual (ICE).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49273" y="4742140"/>
            <a:ext cx="684466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Tecnologías emergentes como la </a:t>
            </a:r>
            <a:r>
              <a:rPr lang="en-US" sz="15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Inteligencia Artificial</a:t>
            </a: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demandan enormes cantidades de energía: entrenar un solo modelo de lenguaje puede consumir hasta </a:t>
            </a:r>
            <a:r>
              <a:rPr lang="en-US" sz="15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2,000 GWh anuales</a:t>
            </a: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41149" y="3086933"/>
            <a:ext cx="302787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Modernización Normativa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8241149" y="3610928"/>
            <a:ext cx="560296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enfrentar este reto, el país necesita actualizar sus leyes eléctricas. El </a:t>
            </a: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Proyecto de Ley de Armonización del Sistema Eléctrico Nacional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es fundamental para: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41149" y="4742140"/>
            <a:ext cx="5602962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Atraer nuevas inversiones al sector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Diversificar la matriz energética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Garantizar tarifas competitivas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Modernizar la infraestructura existente</a:t>
            </a:r>
            <a:endParaRPr lang="en-US" sz="1550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3B2B3E2-673D-7E4C-7445-F49A6D5D7671}"/>
              </a:ext>
            </a:extLst>
          </p:cNvPr>
          <p:cNvSpPr/>
          <p:nvPr/>
        </p:nvSpPr>
        <p:spPr>
          <a:xfrm>
            <a:off x="12857356" y="7677864"/>
            <a:ext cx="1694985" cy="42945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8948"/>
            <a:ext cx="8495348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Actores Clave y su Visión Estratégica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215705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sector eléctrico costarricense está guiado por instituciones y organizaciones con roles complementarios que buscan garantizar un suministro energético sostenible y eficiente.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15377"/>
            <a:ext cx="2425660" cy="14991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762500"/>
            <a:ext cx="4182189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Instituto Costarricense de Electricidad (ICE)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793790" y="5532834"/>
            <a:ext cx="4182189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Principal administrador y operador de los recursos limpios del país. Impulsa el </a:t>
            </a: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 de Expansión de la Generación Eléctrica 2024-2040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para garantizar el suministro futuro.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986" y="3015377"/>
            <a:ext cx="2425660" cy="14991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23986" y="4762500"/>
            <a:ext cx="4182308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Cámara de Industrias de Costa Rica (CICR)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5223986" y="5532834"/>
            <a:ext cx="41823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Promueve la apertura del mercado a inversiones privadas, la diversificación con energías renovables y la competitividad de las tarifas para el sector productivo.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4302" y="3015377"/>
            <a:ext cx="2425660" cy="14991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54302" y="4762500"/>
            <a:ext cx="2888575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Gobierno de la República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9654302" y="5207198"/>
            <a:ext cx="418230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Ratifica el liderazgo en energía sostenible y trabaja para fortalecer la capacidad instalada, asegurando que Costa Rica mantenga su posición como referente energético regional.</a:t>
            </a:r>
            <a:endParaRPr lang="en-US" sz="1550"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114DEE5E-B5BF-1439-F28A-EB9BDB8301D4}"/>
              </a:ext>
            </a:extLst>
          </p:cNvPr>
          <p:cNvSpPr/>
          <p:nvPr/>
        </p:nvSpPr>
        <p:spPr>
          <a:xfrm>
            <a:off x="12857356" y="7677864"/>
            <a:ext cx="1694985" cy="42945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3553"/>
            <a:ext cx="13042821" cy="130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Política Energética: Hacia un Futuro Sostenible y Competitivo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250293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Costa Rica cuenta con una serie de instrumentos de planificación que guían el desarrollo del sector eléctrico a corto, mediano y largo plazo.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5234821"/>
            <a:ext cx="13042821" cy="22860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3316486" y="4639508"/>
            <a:ext cx="22860" cy="595313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3104674" y="5011579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3171646" y="5039499"/>
            <a:ext cx="31253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1619845" y="3043714"/>
            <a:ext cx="3416141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Plan de Expansión 2024-2040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992148" y="3488412"/>
            <a:ext cx="467153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Incorpora aproximadamente </a:t>
            </a: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600 MW adicionales para 2030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con proyectos a cargo del ICE y generadores privados.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74556" y="5234821"/>
            <a:ext cx="22860" cy="595313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11" name="Shape 9"/>
          <p:cNvSpPr/>
          <p:nvPr/>
        </p:nvSpPr>
        <p:spPr>
          <a:xfrm>
            <a:off x="5762744" y="5011579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5829717" y="5039499"/>
            <a:ext cx="31253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1"/>
          <p:cNvSpPr/>
          <p:nvPr/>
        </p:nvSpPr>
        <p:spPr>
          <a:xfrm>
            <a:off x="3925729" y="6028611"/>
            <a:ext cx="4120515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Proyecto de Armonización Eléctrica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3650218" y="6473309"/>
            <a:ext cx="467165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Iniciativa legislativa clave para modernizar el marco regulatorio, atraer inversión extranjera y garantizar tarifas competitivas.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632746" y="4639508"/>
            <a:ext cx="22860" cy="595313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20933" y="5011579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8487906" y="5039499"/>
            <a:ext cx="31253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6"/>
          <p:cNvSpPr/>
          <p:nvPr/>
        </p:nvSpPr>
        <p:spPr>
          <a:xfrm>
            <a:off x="6848713" y="3043714"/>
            <a:ext cx="3591044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Plan Estratégico Nacional 2050</a:t>
            </a:r>
            <a:endParaRPr lang="en-US" sz="2050" dirty="0"/>
          </a:p>
        </p:txBody>
      </p:sp>
      <p:sp>
        <p:nvSpPr>
          <p:cNvPr id="19" name="Text 17"/>
          <p:cNvSpPr/>
          <p:nvPr/>
        </p:nvSpPr>
        <p:spPr>
          <a:xfrm>
            <a:off x="6308408" y="3488412"/>
            <a:ext cx="467165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Define la visión de largo plazo para la descarbonización total de la economía costarricense, incluyendo el sector eléctrico.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11290935" y="5234821"/>
            <a:ext cx="22860" cy="595313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79123" y="5011579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11146095" y="5039499"/>
            <a:ext cx="312539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450" dirty="0"/>
          </a:p>
        </p:txBody>
      </p:sp>
      <p:sp>
        <p:nvSpPr>
          <p:cNvPr id="23" name="Text 21"/>
          <p:cNvSpPr/>
          <p:nvPr/>
        </p:nvSpPr>
        <p:spPr>
          <a:xfrm>
            <a:off x="9016484" y="6028611"/>
            <a:ext cx="4571762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Plan Nacional de Desarrollo e Inversión</a:t>
            </a:r>
            <a:endParaRPr lang="en-US" sz="2050" dirty="0"/>
          </a:p>
        </p:txBody>
      </p:sp>
      <p:sp>
        <p:nvSpPr>
          <p:cNvPr id="24" name="Text 22"/>
          <p:cNvSpPr/>
          <p:nvPr/>
        </p:nvSpPr>
        <p:spPr>
          <a:xfrm>
            <a:off x="8966597" y="6473309"/>
            <a:ext cx="467165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Orienta las políticas públicas del sector, alineando los objetivos energéticos con las metas nacionales de desarrollo económico y social.</a:t>
            </a:r>
            <a:endParaRPr lang="en-US" sz="1550" dirty="0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F90D9AEF-E0C1-6CBB-AA04-9D249390B50D}"/>
              </a:ext>
            </a:extLst>
          </p:cNvPr>
          <p:cNvSpPr/>
          <p:nvPr/>
        </p:nvSpPr>
        <p:spPr>
          <a:xfrm>
            <a:off x="12857356" y="7677864"/>
            <a:ext cx="1694985" cy="42945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9452"/>
            <a:ext cx="11736943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Transición a Renovables: Oportunidades y Avances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2476738"/>
            <a:ext cx="3165396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Diversificación de la Matriz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793790" y="3000732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Costa Rica avanza hacia una matriz más diversa y resiliente. Entre los proyectos destacados se encuentra la planta geotérmica </a:t>
            </a: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Borinquen 1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con </a:t>
            </a: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55 MW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proyectados para 2029, junto con nuevas instalaciones solares y eólicas en distintas regiones del país.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469249"/>
            <a:ext cx="3944183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Geotermia: La Fuente Más Estable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793790" y="4993243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diferencia de la energía solar o eólica, la geotermia </a:t>
            </a: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depende del clima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Es la única fuente renovable que garantiza suministro constante, siendo clave para la seguridad energética nacional.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2476738"/>
            <a:ext cx="314479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Inversión Pública y Privada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7564874" y="3000732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sostener el crecimiento, es necesario atraer tanto inversión del Estado como del sector privado. Esto permitirá: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3814405"/>
            <a:ext cx="6279356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Financiar nuevas plantas de generación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Atraer industrias de alto consumo energético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Fortalecer la generación de empleo calificado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Modernizar la red de transmisión existente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564874" y="5516047"/>
            <a:ext cx="6279356" cy="1160740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232" y="5811322"/>
            <a:ext cx="248007" cy="19835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09598" y="5763935"/>
            <a:ext cx="5436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combinación de inversión pública y privada es esencial para alcanzar las metas del Plan de Expansión 2024-2040.</a:t>
            </a:r>
            <a:endParaRPr lang="en-US" sz="1550"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F694855-6E96-B5F6-0988-81DA342EB21D}"/>
              </a:ext>
            </a:extLst>
          </p:cNvPr>
          <p:cNvSpPr/>
          <p:nvPr/>
        </p:nvSpPr>
        <p:spPr>
          <a:xfrm>
            <a:off x="12857356" y="7677864"/>
            <a:ext cx="1694985" cy="42945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6993" y="524708"/>
            <a:ext cx="7730014" cy="1159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Recomendaciones Políticas: Asegurando el Futuro Energético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706993" y="1920716"/>
            <a:ext cx="7730014" cy="534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garantizar que Costa Rica mantenga su liderazgo energético y pueda atender la demanda futura, se proponen las siguientes acciones prioritarias: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706993" y="2632591"/>
            <a:ext cx="7730014" cy="1585793"/>
          </a:xfrm>
          <a:prstGeom prst="roundRect">
            <a:avLst>
              <a:gd name="adj" fmla="val 167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9853" y="2655451"/>
            <a:ext cx="706993" cy="154007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950833" y="3259812"/>
            <a:ext cx="26503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1594247" y="2832140"/>
            <a:ext cx="3512225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Acelerar la Aprobación Legislativa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94247" y="3216592"/>
            <a:ext cx="6643211" cy="80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 urgente avanzar en la discusión y aprobación del </a:t>
            </a:r>
            <a:r>
              <a:rPr lang="en-US" sz="13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Proyecto de Armonización del Sistema Eléctrico Nacional</a:t>
            </a: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Un marco normativo moderno atraerá inversiones y diversificará la oferta energética.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06993" y="4375785"/>
            <a:ext cx="7730014" cy="1585793"/>
          </a:xfrm>
          <a:prstGeom prst="roundRect">
            <a:avLst>
              <a:gd name="adj" fmla="val 167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29853" y="4398645"/>
            <a:ext cx="706993" cy="154007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950833" y="5003006"/>
            <a:ext cx="26503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1594247" y="4575334"/>
            <a:ext cx="4206359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Fomentar la Inversión en Infraestructura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594247" y="4959787"/>
            <a:ext cx="6643211" cy="80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Ampliar la oferta renovable es indispensable para sostener la atracción de industrias, garantizar la seguridad de suministro y crear empleo en todo el territorio nacional.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06993" y="6118979"/>
            <a:ext cx="7730014" cy="1585793"/>
          </a:xfrm>
          <a:prstGeom prst="roundRect">
            <a:avLst>
              <a:gd name="adj" fmla="val 167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9853" y="6141839"/>
            <a:ext cx="706993" cy="154007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7" name="Text 14"/>
          <p:cNvSpPr/>
          <p:nvPr/>
        </p:nvSpPr>
        <p:spPr>
          <a:xfrm>
            <a:off x="950833" y="6746200"/>
            <a:ext cx="26503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050" dirty="0"/>
          </a:p>
        </p:txBody>
      </p:sp>
      <p:sp>
        <p:nvSpPr>
          <p:cNvPr id="18" name="Text 15"/>
          <p:cNvSpPr/>
          <p:nvPr/>
        </p:nvSpPr>
        <p:spPr>
          <a:xfrm>
            <a:off x="1594247" y="6318528"/>
            <a:ext cx="3811429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Adaptación a la Demanda Emergente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594247" y="6702981"/>
            <a:ext cx="6643211" cy="80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Desarrollar estrategias específicas para integrar eficientemente las nuevas demandas tecnológicas, como los centros de datos y la Inteligencia Artificial, en la red eléctrica nacional.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4154"/>
            <a:ext cx="12746474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Costa Rica: Un Futuro Energético Brillante y Sostenible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93790" y="190226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Costa Rica tiene la oportunidad de consolidar su posición como líder energético mundial, combinando su fortaleza renovable con innovación y una visión de largo plazo.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760583"/>
            <a:ext cx="4215289" cy="3230880"/>
          </a:xfrm>
          <a:prstGeom prst="roundRect">
            <a:avLst>
              <a:gd name="adj" fmla="val 921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992148" y="295894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5859" y="3122533"/>
            <a:ext cx="267891" cy="2678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2148" y="3752612"/>
            <a:ext cx="3818573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Fortaleza Renovable Consolidada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992148" y="4522946"/>
            <a:ext cx="38185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Mantener el liderazgo global en generación limpia, preservando el 98.6% de renovabilidad como base del desarrollo nacional.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207437" y="2760583"/>
            <a:ext cx="4215408" cy="3230880"/>
          </a:xfrm>
          <a:prstGeom prst="roundRect">
            <a:avLst>
              <a:gd name="adj" fmla="val 921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5405795" y="295894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9506" y="3122533"/>
            <a:ext cx="267891" cy="2678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05795" y="3752612"/>
            <a:ext cx="3349704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Innovación y Competitividad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5405795" y="4197310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Atraer inversión y empleo mediante un marco normativo moderno, tarifas competitivas y proyectos de energía de vanguardia.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9621203" y="2760583"/>
            <a:ext cx="4215289" cy="3230880"/>
          </a:xfrm>
          <a:prstGeom prst="roundRect">
            <a:avLst>
              <a:gd name="adj" fmla="val 921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9819561" y="295894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04F0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83272" y="3122533"/>
            <a:ext cx="267891" cy="2678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19561" y="3752612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Visión a Largo Plazo</a:t>
            </a:r>
            <a:endParaRPr lang="en-US" sz="2050" dirty="0"/>
          </a:p>
        </p:txBody>
      </p:sp>
      <p:sp>
        <p:nvSpPr>
          <p:cNvPr id="18" name="Text 13"/>
          <p:cNvSpPr/>
          <p:nvPr/>
        </p:nvSpPr>
        <p:spPr>
          <a:xfrm>
            <a:off x="9819561" y="4197310"/>
            <a:ext cx="38185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Asegurar la seguridad energética y la descarbonización total para las próximas generaciones, cumpliendo con el Plan Estratégico Nacional 2050.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793790" y="6214705"/>
            <a:ext cx="13042821" cy="1160740"/>
          </a:xfrm>
          <a:prstGeom prst="roundRect">
            <a:avLst>
              <a:gd name="adj" fmla="val 2565"/>
            </a:avLst>
          </a:prstGeom>
          <a:solidFill>
            <a:srgbClr val="B6FCB8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48" y="6509980"/>
            <a:ext cx="248007" cy="19835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38513" y="6462593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Conclusión:</a:t>
            </a: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El sector eléctrico costarricense enfrenta retos importantes, pero cuenta con los recursos naturales, el marco institucional y la visión política para construir un futuro energético sostenible, competitivo y al servicio de todos los costarricenses.</a:t>
            </a:r>
            <a:endParaRPr lang="en-US" sz="1550" dirty="0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7452A62F-BBCB-FC1B-5B67-1A98018B5D78}"/>
              </a:ext>
            </a:extLst>
          </p:cNvPr>
          <p:cNvSpPr/>
          <p:nvPr/>
        </p:nvSpPr>
        <p:spPr>
          <a:xfrm>
            <a:off x="12857356" y="7677864"/>
            <a:ext cx="1694985" cy="42945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982</Words>
  <Application>Microsoft Office PowerPoint</Application>
  <PresentationFormat>Personalizado</PresentationFormat>
  <Paragraphs>85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PT Serif</vt:lpstr>
      <vt:lpstr>Arial</vt:lpstr>
      <vt:lpstr>DM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antoyefruizg04@gmail.com</cp:lastModifiedBy>
  <cp:revision>2</cp:revision>
  <dcterms:created xsi:type="dcterms:W3CDTF">2026-04-28T19:10:45Z</dcterms:created>
  <dcterms:modified xsi:type="dcterms:W3CDTF">2026-04-28T19:13:01Z</dcterms:modified>
</cp:coreProperties>
</file>