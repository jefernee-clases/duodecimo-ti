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— Lección 1. Tiempo sugerido: 3 minutos.
Preguntá al grupo: ¿cuál tecnología nueva han visto aparecer en su casa o en un negocio del barrio en los últimos dos años? Anotá tres respuestas en la pizarra y volvé a ellas al cerrar la lección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 — Tiempo sugerido: 7 minutos.
Leé el resultado de aprendizaje tal como lo dicta el programa y luego traducilo con tus palabras. Indicación para la clase: pedile a tres estudiantes que digan una tecnología que crean 'emergente' y dejá la lista visible; al final de la lección 4 marcá cuáles sí aparecieron en 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 — Tiempo sugerido: 17 minutos.
Explicá los cuatro puntos de impacto usando el dibujo de cada tarjeta antes de leer el texto. Indicación para la clase: nombrá un negocio del cantón y preguntá en cuál punto de impacto le pegaría más una app de pedidos.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 — Tiempo sugerido: 18 minutos, más 15 minutos para la Práctica 1 en clase.
Usá el dibujo del celular con el mueble y el de los lentes para marcar la diferencia entre RA y RV, que es la que más se confunde. Indicación para la clase: preguntá si un filtro de cámara es RA o RV.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Divisoria de la lección 2 — Tiempo sugerido: 2 minutos.
Usala para cerrar la lección anterior y abrir la nueva. Indicación para la clase: preguntá qué recuerdan de la lección pasada en una sola palabra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2 — Tiempo sugerido: 22 minutos.
Señalá en el dibujo que los cuatro nodos tienen el mismo dato: ahí está la idea de registro distribuido. Indicación para la clase: preguntá por qué a un comprador europeo le importaría la trazabilidad del café 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2 — Tiempo sugerido: 20 minutos, más 16 minutos para la Práctica 2 en clase.
Mostrá el dibujo de las dos pantallas distintas para explicar la personalización por perfil. Indicación para la clase: preguntá quién ha comprado algo por una reseña y quién ha dejado de comprar por otra.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Divisoria de la lección 3 — Tiempo sugerido: 2 minutos.
Usala para cerrar la lección anterior y abrir la nueva. Indicación para la clase: preguntá qué recuerdan de la lección pasada en una sola palabra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3 — Tiempo sugerido: 20 minutos.
Usá el dibujo de ANTES y AHORA para desarmar el miedo al desempleo: cambia la tarea, no desaparece el puesto. Indicación para la clase: pedí que nombren un trabajo del cantón que ya cambió por la tecnología.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3 — Tiempo sugerido: 20 minutos, más 18 minutos para la Práctica 3 en clase.
Mostrá el dibujo del mensaje falso y hacé que el grupo encuentre las pistas: el nombre mal escrito y la dirección rara. Indicación para la clase: preguntá quién ha recibido un mensaje así y qué hizo.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Divisoria de la lección 4 — Tiempo sugerido: 2 minutos.
Usala para cerrar la lección anterior y abrir la nueva. Indicación para la clase: preguntá qué recuerdan de la lección pasada en una sola palabra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4 — Tiempo sugerido: 24 minutos, más 26 minutos para la Práctica 4 en clase.
Aterrizá el concepto con apps que el grupo ya usa y con el dibujo del historial de Ana. Indicación para la clase: preguntá qué app los conoce mejor y qué datos creen que esa app tiene de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4 — Cierre. Tiempo sugerido: 8 minutos.
Repasá las seis preguntas en voz alta con el grupo. Indicación para la clase: volvé a la lista de tecnologías que escribieron en la primera lección y marcá cuáles aparecieron; preguntá cuál de las seis les parece la más importante para el negocio de su familia o de su barrio.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914400"/>
            <a:ext cx="3291840" cy="329184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1371600"/>
            <a:ext cx="2194560" cy="219456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3931920"/>
            <a:ext cx="2834640" cy="2834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44752"/>
            <a:ext cx="201168" cy="201168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444752"/>
            <a:ext cx="201168" cy="20116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444752"/>
            <a:ext cx="201168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9616" y="1444752"/>
            <a:ext cx="201168" cy="201168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10512" y="1444752"/>
            <a:ext cx="20116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21408" y="1444752"/>
            <a:ext cx="201168" cy="201168"/>
          </a:xfrm>
          <a:prstGeom prst="rect">
            <a:avLst/>
          </a:prstGeom>
          <a:solidFill>
            <a:srgbClr val="8B7BC7"/>
          </a:solidFill>
          <a:ln w="12700">
            <a:solidFill>
              <a:srgbClr val="8B7B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9144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DE LA INFORMACIÓN  ·  UNIDAD DE ESTUDIO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192024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emergentes y sus puntos de impacto en las organizaciones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3749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posdigital, demografía digital, trabajadores digitales, ecosistemas seguros y mercado individual.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754880"/>
            <a:ext cx="7772400" cy="18288"/>
          </a:xfrm>
          <a:prstGeom prst="rect">
            <a:avLst/>
          </a:prstGeom>
          <a:solidFill>
            <a:srgbClr val="3A3852"/>
          </a:solidFill>
          <a:ln w="12700">
            <a:solidFill>
              <a:srgbClr val="3A38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937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Duodécimo año</a:t>
            </a:r>
            <a:pPr indent="0" marL="0">
              <a:buNone/>
            </a:pPr>
            <a:r>
              <a:rPr lang="en-US" sz="1400" dirty="0">
                <a:solidFill>
                  <a:srgbClr val="9E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Especialidad: Desarrollo Web   ·   Ministerio de Educación Pública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lecciones de 60 minutos   ·   4 documentos de práctica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HACIA DÓNDE VAMOS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93776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 aprendizaje e indicador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5096" cy="402336"/>
          </a:xfrm>
          <a:prstGeom prst="rect">
            <a:avLst/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87552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2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programa hoy construye sobre estas tecnologías: saber cuáles existen decide qué le puedo ofrecer a un cliente.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536192"/>
            <a:ext cx="5390388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37360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64208"/>
            <a:ext cx="47503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6384" y="2011680"/>
            <a:ext cx="49514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tecnologías emergentes mundiales y sus puntos de impacto en las organizaciones acorde a los modelos de negocio y mercado local.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1636" y="1536192"/>
            <a:ext cx="5390388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51092" y="1737360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2260" y="1664208"/>
            <a:ext cx="47503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LOGRO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51092" y="2011680"/>
            <a:ext cx="49514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las tecnologías visionarias de la era posdigital y explica cómo afectan a las personas, a los procesos y a los negocios del mercado costarricense.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298094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LAS CUATRO LECCIONES VAS A PODER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255264"/>
            <a:ext cx="3532632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438144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438144"/>
            <a:ext cx="2709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las tecnologías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" y="3803904"/>
            <a:ext cx="309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inteligencia artificial, realidad aumentada y virtual, registro distribuido y computación cuántica.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8160" y="3255264"/>
            <a:ext cx="3532632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7616" y="3438144"/>
            <a:ext cx="292608" cy="292608"/>
          </a:xfrm>
          <a:prstGeom prst="ellipse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7616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1664" y="3438144"/>
            <a:ext cx="2709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el impacto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47616" y="3803904"/>
            <a:ext cx="309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Señalar a cuál parte de la organización le pega cada tecnología: el negocio, los procesos, los clientes o las personas.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89392" y="3255264"/>
            <a:ext cx="3532632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08848" y="3438144"/>
            <a:ext cx="292608" cy="292608"/>
          </a:xfrm>
          <a:prstGeom prst="ellipse">
            <a:avLst/>
          </a:prstGeom>
          <a:solidFill>
            <a:srgbClr val="8B7BC7"/>
          </a:solidFill>
          <a:ln w="12700">
            <a:solidFill>
              <a:srgbClr val="8B7B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8848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92896" y="3438144"/>
            <a:ext cx="2709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Aplicarlo aquí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08848" y="3803904"/>
            <a:ext cx="309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cada tecnología con negocios reales de Costa Rica y con lo que el mercado local puede adoptar.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475488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DOCUMENTOS DE PRÁCTICA, UNO POR LECCIÓN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5010912"/>
            <a:ext cx="2612898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5193792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5120640"/>
            <a:ext cx="2064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 · Lección 1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9808" y="5413248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trabajo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380994" y="5010912"/>
            <a:ext cx="2612898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3874" y="5193792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65042" y="5120640"/>
            <a:ext cx="2064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2 · Lección 2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563874" y="5413248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casos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95060" y="5010912"/>
            <a:ext cx="2612898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77940" y="5193792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9108" y="5120640"/>
            <a:ext cx="2064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3 · Lección 3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377940" y="5413248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e investigación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009126" y="5010912"/>
            <a:ext cx="2612898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92006" y="5193792"/>
            <a:ext cx="128016" cy="128016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93174" y="5120640"/>
            <a:ext cx="2064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6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4 · Lección 4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192006" y="5413248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66928" y="5980176"/>
            <a:ext cx="11055096" cy="621792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" y="5980176"/>
            <a:ext cx="10506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aparece en las cuatro prácticas está en estas diapositivas: si algo no lo vimos aquí, no se lo voy a preguntar.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MARCO GENERAL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93776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emergentes: qué son y dónde le pegan a la organización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5096" cy="402336"/>
          </a:xfrm>
          <a:prstGeom prst="rect">
            <a:avLst/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87552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2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de impacto es un lugar donde alguien va a necesitar un sistema, una app o una página web.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tecnología emergente es una tecnología nueva que todavía se está expandiendo y que puede cambiar la forma de trabajar de una organización. Lo importante no es saber que existe, sino ubicar en cuál parte de la empresa produce el cambio: a esos lugares les llamamos puntos de impacto.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560320"/>
            <a:ext cx="62179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603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08760" y="2651760"/>
            <a:ext cx="192024" cy="182880"/>
          </a:xfrm>
          <a:prstGeom prst="rightArrow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97710" y="2359152"/>
            <a:ext cx="427939" cy="822960"/>
          </a:xfrm>
          <a:prstGeom prst="roundRect">
            <a:avLst>
              <a:gd name="adj" fmla="val 17094"/>
            </a:avLst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43430" y="2432304"/>
            <a:ext cx="336499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43430" y="2478024"/>
            <a:ext cx="3364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889150" y="2688336"/>
            <a:ext cx="245059" cy="18288"/>
          </a:xfrm>
          <a:prstGeom prst="rect">
            <a:avLst/>
          </a:prstGeom>
          <a:solidFill>
            <a:srgbClr val="E1DDEB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89150" y="2770632"/>
            <a:ext cx="190195" cy="18288"/>
          </a:xfrm>
          <a:prstGeom prst="rect">
            <a:avLst/>
          </a:prstGeom>
          <a:solidFill>
            <a:srgbClr val="E1DDEB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89150" y="2852928"/>
            <a:ext cx="245059" cy="146304"/>
          </a:xfrm>
          <a:prstGeom prst="roundRect">
            <a:avLst>
              <a:gd name="adj" fmla="val 31250"/>
            </a:avLst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16582" y="2852928"/>
            <a:ext cx="1901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786384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en el local y ahora también por app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51760" y="2212848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9504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51760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la forma en que la organización gana dinero o entrega su producto.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una soda que pasa de vender solo en el local a vender también por una app.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04204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0508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3388" y="2359152"/>
            <a:ext cx="53035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6540" y="2487168"/>
            <a:ext cx="384048" cy="18288"/>
          </a:xfrm>
          <a:prstGeom prst="rect">
            <a:avLst/>
          </a:prstGeom>
          <a:solidFill>
            <a:srgbClr val="C9C5D8"/>
          </a:solidFill>
          <a:ln w="12700">
            <a:solidFill>
              <a:srgbClr val="C9C5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06540" y="2615184"/>
            <a:ext cx="384048" cy="18288"/>
          </a:xfrm>
          <a:prstGeom prst="rect">
            <a:avLst/>
          </a:prstGeom>
          <a:solidFill>
            <a:srgbClr val="C9C5D8"/>
          </a:solidFill>
          <a:ln w="12700">
            <a:solidFill>
              <a:srgbClr val="C9C5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06540" y="2743200"/>
            <a:ext cx="384048" cy="18288"/>
          </a:xfrm>
          <a:prstGeom prst="rect">
            <a:avLst/>
          </a:prstGeom>
          <a:solidFill>
            <a:srgbClr val="C9C5D8"/>
          </a:solidFill>
          <a:ln w="12700">
            <a:solidFill>
              <a:srgbClr val="C9C5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6540" y="2871216"/>
            <a:ext cx="384048" cy="18288"/>
          </a:xfrm>
          <a:prstGeom prst="rect">
            <a:avLst/>
          </a:prstGeom>
          <a:solidFill>
            <a:srgbClr val="C9C5D8"/>
          </a:solidFill>
          <a:ln w="12700">
            <a:solidFill>
              <a:srgbClr val="C9C5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3388" y="30540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118604" y="2606040"/>
            <a:ext cx="201168" cy="182880"/>
          </a:xfrm>
          <a:prstGeom prst="rightArrow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92924" y="2359152"/>
            <a:ext cx="58521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92924" y="2359152"/>
            <a:ext cx="585216" cy="137160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66076" y="2596896"/>
            <a:ext cx="438912" cy="2286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66076" y="2724912"/>
            <a:ext cx="438912" cy="2286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66076" y="2852928"/>
            <a:ext cx="438912" cy="2286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92924" y="305409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423660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expediente deja de ser de papel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289036" y="2212848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6780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internos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89036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cómo se hace el trabajo todos los días dentro de la empresa.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89036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una clínica de Heredia que pasa del expediente en papel al expediente digital.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9536" y="437083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2688" y="43708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¿Tienen casado hoy?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280160" y="4718304"/>
            <a:ext cx="1069848" cy="29260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35024" y="471830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hasta la 1 p. m.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280160" y="5065776"/>
            <a:ext cx="1069848" cy="274320"/>
          </a:xfrm>
          <a:prstGeom prst="roundRect">
            <a:avLst>
              <a:gd name="adj" fmla="val 2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35024" y="50657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automática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86384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contesta a toda hora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651760" y="4315968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89504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experiencia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2651760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cómo se atiende, se vende y se le responde al cliente.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651760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una pyme de Alajuela que atiende los pedidos por WhatsApp con un asistente automático.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204204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50508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91172" y="4370832"/>
            <a:ext cx="274320" cy="274320"/>
          </a:xfrm>
          <a:prstGeom prst="ellipse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81444" y="4663440"/>
            <a:ext cx="493776" cy="274320"/>
          </a:xfrm>
          <a:prstGeom prst="roundRect">
            <a:avLst>
              <a:gd name="adj" fmla="val 33333"/>
            </a:avLst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60236" y="5047488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87668" y="504748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264908" y="5047488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2340" y="504748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Inventario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423660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mismo puesto se le suma una tarea nueva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289036" y="4315968"/>
            <a:ext cx="128016" cy="128016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26780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y puestos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8289036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qué habilidades hacen falta y qué tareas hace cada quien.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289036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el cajero de un súper que ahora también maneja el sistema de inventario.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1248" y="6053328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traer una tecnología hay dos preguntas: a cuál de estos cuatro puntos le pega, y si el mercado local de Costa Rica está listo para usarla.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ERA POSDIGITAL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93776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 posdigital I: inteligencia artificial y realidad extendida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5096" cy="402336"/>
          </a:xfrm>
          <a:prstGeom prst="rect">
            <a:avLst/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87552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2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y la realidad extendida ya no son laboratorio: son librerías y servicios que un programador conecta a su proyecto.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era posdigital es la etapa en la que ya no basta con estar en internet: las organizaciones combinan varias tecnologías nuevas al mismo tiempo. Mirá primero el dibujo de cada tarjeta y después leé la definición.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340864"/>
            <a:ext cx="127101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340864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DATOS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517904" y="2660904"/>
            <a:ext cx="173736" cy="146304"/>
          </a:xfrm>
          <a:prstGeom prst="downArrow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2834640"/>
            <a:ext cx="1271016" cy="329184"/>
          </a:xfrm>
          <a:prstGeom prst="roundRect">
            <a:avLst>
              <a:gd name="adj" fmla="val 13889"/>
            </a:avLst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834640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QUE APRENDE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17904" y="3191256"/>
            <a:ext cx="173736" cy="146304"/>
          </a:xfrm>
          <a:prstGeom prst="downArrow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364992"/>
            <a:ext cx="127101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364992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 PREDICE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51760" y="2212848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9504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51760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aprenden de muchos datos y con eso toman decisiones o hacen predicciones.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chatbot de WhatsApp que recibe los pedidos de una soda a toda hora.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04204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0508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6812" y="2249424"/>
            <a:ext cx="149047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9964" y="22494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"Escribime la descripción"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155180" y="2578608"/>
            <a:ext cx="173736" cy="137160"/>
          </a:xfrm>
          <a:prstGeom prst="downArrow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6812" y="2752344"/>
            <a:ext cx="14904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8252" y="2852928"/>
            <a:ext cx="1307592" cy="2286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8252" y="2971800"/>
            <a:ext cx="1307592" cy="2286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8252" y="3090672"/>
            <a:ext cx="822960" cy="2286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3660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nuevo, generado por la IA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289036" y="2212848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26780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89036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inteligencia artificial que crea contenido nuevo: texto, imágenes, audio o código.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89036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redactar la descripción de los productos de una tienda en línea tica.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33744" y="4315968"/>
            <a:ext cx="542056" cy="1042416"/>
          </a:xfrm>
          <a:prstGeom prst="roundRect">
            <a:avLst>
              <a:gd name="adj" fmla="val 13495"/>
            </a:avLst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9464" y="4389120"/>
            <a:ext cx="45061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16040" y="4992624"/>
            <a:ext cx="377464" cy="22860"/>
          </a:xfrm>
          <a:prstGeom prst="rect">
            <a:avLst/>
          </a:prstGeom>
          <a:solidFill>
            <a:srgbClr val="C9C5D8"/>
          </a:solidFill>
          <a:ln w="12700">
            <a:solidFill>
              <a:srgbClr val="C9C5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07480" y="4718304"/>
            <a:ext cx="310896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89192" y="4700016"/>
            <a:ext cx="347472" cy="3108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A9D8F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379464" y="5038344"/>
            <a:ext cx="450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real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786384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mueble digital se ve sobre la sala real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651760" y="4315968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9504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 aumentada (RA)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2651760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objetos digitales encima del mundo real, visto por la cámara del celular.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651760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ver cómo queda un mueble en la sala antes de comprarlo.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204204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0508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88252" y="4535424"/>
            <a:ext cx="1298448" cy="530352"/>
          </a:xfrm>
          <a:prstGeom prst="roundRect">
            <a:avLst>
              <a:gd name="adj" fmla="val 20690"/>
            </a:avLst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97980" y="4636008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19772" y="4636008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78524" y="4681728"/>
            <a:ext cx="128016" cy="54864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68412" y="4681728"/>
            <a:ext cx="128016" cy="54864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0508" y="51389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spc="100" kern="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423660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se ve es digital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289036" y="4315968"/>
            <a:ext cx="128016" cy="128016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26780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 virtual (RV)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8289036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totalmente digital que se recorre con lentes: el mundo real desaparece.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289036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capacitar a un técnico del INA sin arriesgar equipo real.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" y="6053328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 agrega cosas al mundo real y la RV lo reemplaza. A las dos, junto con la realidad mixta, se les llama realidad extendida (RX).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566160"/>
            <a:ext cx="3108960" cy="310896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822960"/>
            <a:ext cx="2194560" cy="219456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517904"/>
            <a:ext cx="201168" cy="201168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517904"/>
            <a:ext cx="201168" cy="20116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517904"/>
            <a:ext cx="201168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9616" y="1517904"/>
            <a:ext cx="201168" cy="201168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10512" y="1517904"/>
            <a:ext cx="20116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1408" y="1517904"/>
            <a:ext cx="201168" cy="201168"/>
          </a:xfrm>
          <a:prstGeom prst="rect">
            <a:avLst/>
          </a:prstGeom>
          <a:solidFill>
            <a:srgbClr val="8B7BC7"/>
          </a:solidFill>
          <a:ln w="12700">
            <a:solidFill>
              <a:srgbClr val="8B7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0607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2 DE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0116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distribuido, computación cuántica y demografía digital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66928" y="3374136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552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registro distribuido y para qué sirve la trazabilidad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886200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673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promete y qué amenaza la computación cuántica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398264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793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comportan e influyen entre sí los consumidores digitales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5486400"/>
            <a:ext cx="6949440" cy="694944"/>
          </a:xfrm>
          <a:prstGeom prst="roundRect">
            <a:avLst>
              <a:gd name="adj" fmla="val 5263"/>
            </a:avLst>
          </a:prstGeom>
          <a:solidFill>
            <a:srgbClr val="2A2842"/>
          </a:solidFill>
          <a:ln w="12700">
            <a:solidFill>
              <a:srgbClr val="3A38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486400"/>
            <a:ext cx="6492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 esta lección: </a:t>
            </a:r>
            <a:pPr indent="0" marL="0">
              <a:buNone/>
            </a:pPr>
            <a:r>
              <a:rPr lang="en-US" sz="1300" dirty="0">
                <a:solidFill>
                  <a:srgbClr val="C9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2, análisis de casos de negocios costarricenses.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ERA POSDIGITAL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93776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 posdigital II: registro distribuido y computación cuántica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5096" cy="402336"/>
          </a:xfrm>
          <a:prstGeom prst="rect">
            <a:avLst/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87552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2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dos tecnologías que cambian cómo se guarda la información y cómo se resuelven cálculos enormes.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tecnologías de registro distribuido reparten la información entre muchas computadoras para que nadie la pueda alterar en secreto. La computación cuántica, en cambio, cambia la forma misma de calcular.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67712"/>
            <a:ext cx="6126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67712"/>
            <a:ext cx="612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27  ✓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682496" y="2267712"/>
            <a:ext cx="6126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2267712"/>
            <a:ext cx="612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27  ✓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14400" y="2798064"/>
            <a:ext cx="6126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98064"/>
            <a:ext cx="612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27  ✓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682496" y="2798064"/>
            <a:ext cx="6126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2496" y="2798064"/>
            <a:ext cx="612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27  ✓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527048" y="2450592"/>
            <a:ext cx="155448" cy="18288"/>
          </a:xfrm>
          <a:prstGeom prst="rect">
            <a:avLst/>
          </a:prstGeom>
          <a:solidFill>
            <a:srgbClr val="6B6880"/>
          </a:solidFill>
          <a:ln w="12700">
            <a:solidFill>
              <a:srgbClr val="6B68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27048" y="2980944"/>
            <a:ext cx="155448" cy="18288"/>
          </a:xfrm>
          <a:prstGeom prst="rect">
            <a:avLst/>
          </a:prstGeom>
          <a:solidFill>
            <a:srgbClr val="6B6880"/>
          </a:solidFill>
          <a:ln w="12700">
            <a:solidFill>
              <a:srgbClr val="6B68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" y="2670048"/>
            <a:ext cx="18288" cy="128016"/>
          </a:xfrm>
          <a:prstGeom prst="rect">
            <a:avLst/>
          </a:prstGeom>
          <a:solidFill>
            <a:srgbClr val="6B6880"/>
          </a:solidFill>
          <a:ln w="12700">
            <a:solidFill>
              <a:srgbClr val="6B68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75104" y="2670048"/>
            <a:ext cx="18288" cy="128016"/>
          </a:xfrm>
          <a:prstGeom prst="rect">
            <a:avLst/>
          </a:prstGeom>
          <a:solidFill>
            <a:srgbClr val="6B6880"/>
          </a:solidFill>
          <a:ln w="12700">
            <a:solidFill>
              <a:srgbClr val="6B68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dato copiado en todas las computadoras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651760" y="2212848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9504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distribuido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51760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libro de anotaciones copiado en muchas computadoras: todas tienen que coincidir. El blockchain es el tipo más conocido.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registrar cada lote de café que sale de una cooperativa de Tarrazú.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04204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0508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6812" y="2267712"/>
            <a:ext cx="149047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9964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confirma la entrega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155180" y="2670048"/>
            <a:ext cx="173736" cy="146304"/>
          </a:xfrm>
          <a:prstGeom prst="downArrow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6812" y="2852928"/>
            <a:ext cx="1490472" cy="38404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9964" y="2852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 se paga al productor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23660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se ejecuta sola, sin intermediario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289036" y="2212848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26780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inteligentes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289036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escritas en código que se ejecutan solas cuando se cumple una condición.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89036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liberar el pago al proveedor apenas se confirma la entrega del producto.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4389120"/>
            <a:ext cx="118872" cy="1188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43342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64692" y="4507992"/>
            <a:ext cx="18288" cy="1005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" y="4663440"/>
            <a:ext cx="118872" cy="1188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5568" y="46085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64692" y="4782312"/>
            <a:ext cx="18288" cy="1005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4937760"/>
            <a:ext cx="118872" cy="1188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15568" y="48828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64692" y="5056632"/>
            <a:ext cx="18288" cy="1005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" y="5212080"/>
            <a:ext cx="118872" cy="1188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15568" y="51572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86384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sabe por dónde pasó el café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51760" y="4315968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89504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2651760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seguir un producto desde su origen hasta el cliente final, paso por paso.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651760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saber de cuál finca de Sarapiquí salió el banano que se exportó.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204204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50508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6812" y="4389120"/>
            <a:ext cx="71323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6812" y="44348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spc="100" kern="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496812" y="463600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o  1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83196" y="4389120"/>
            <a:ext cx="713232" cy="603504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83196" y="44348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283196" y="463600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y  1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41948" y="508406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poder estar en los dos estados a la vez, prueba muchas rutas al mismo tiempo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289036" y="4315968"/>
            <a:ext cx="128016" cy="128016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26780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 cuántica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8289036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Computadoras que usan qubits en vez de bits y resuelven muy rápido ciertos problemas enormes.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289036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calcular la mejor ruta de reparto para cientos de entregas en todo el GAM.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1248" y="6053328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distribuido aporta confianza sin intermediarios. La computación cuántica aporta potencia, pero también un riesgo cuántico: esa misma potencia podría romper el cifrado de hoy.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DEMOGRAFÍA DIGITAL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93776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Demografía digital: cómo interactúan entre sí los consumidores digitales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5096" cy="402336"/>
          </a:xfrm>
          <a:prstGeom prst="rect">
            <a:avLst/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87552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2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programa una tienda en línea decide dónde van las reseñas, los perfiles y las recomendaciones.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demografía digital estudia quiénes son los consumidores que viven conectados, cómo se comportan y, sobre todo, cómo se influyen unos a otros antes de decidir una compra.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8989" y="2194560"/>
            <a:ext cx="551566" cy="1060704"/>
          </a:xfrm>
          <a:prstGeom prst="roundRect">
            <a:avLst>
              <a:gd name="adj" fmla="val 13263"/>
            </a:avLst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4709" y="2267712"/>
            <a:ext cx="46012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4709" y="2295144"/>
            <a:ext cx="4601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429573" y="2468880"/>
            <a:ext cx="350398" cy="182880"/>
          </a:xfrm>
          <a:prstGeom prst="rect">
            <a:avLst/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29573" y="2670048"/>
            <a:ext cx="350398" cy="182880"/>
          </a:xfrm>
          <a:prstGeom prst="rect">
            <a:avLst/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29573" y="2889504"/>
            <a:ext cx="350398" cy="182880"/>
          </a:xfrm>
          <a:prstGeom prst="roundRect">
            <a:avLst>
              <a:gd name="adj" fmla="val 25000"/>
            </a:avLst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57005" y="2889504"/>
            <a:ext cx="2955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786384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compara y compra desde el celular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51760" y="2212848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9504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digital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51760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que busca, compara, compra y opina desde su celular, a cualquier hora.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pedir el almuerzo por una app en lugar de llamar por teléfono.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04204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0508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8252" y="2267712"/>
            <a:ext cx="228600" cy="228600"/>
          </a:xfrm>
          <a:prstGeom prst="star5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62572" y="2267712"/>
            <a:ext cx="228600" cy="228600"/>
          </a:xfrm>
          <a:prstGeom prst="star5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6892" y="2267712"/>
            <a:ext cx="228600" cy="228600"/>
          </a:xfrm>
          <a:prstGeom prst="star5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11212" y="2267712"/>
            <a:ext cx="228600" cy="228600"/>
          </a:xfrm>
          <a:prstGeom prst="star5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5532" y="2267712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C9C5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0508" y="255117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de 5  ·  128 opiniones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15100" y="2834640"/>
            <a:ext cx="14538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8252" y="28346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"Muy buena atención, volvería"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23660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opinión de otros decide la compra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289036" y="2212848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26780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y calificaciones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89036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opinión pública de otros clientes pesa más que la publicidad del negocio.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89036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escoger un hotel en Manuel Antonio por sus estrellas y comentarios.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99616" y="435254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46085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clienta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554480" y="4773168"/>
            <a:ext cx="146304" cy="128016"/>
          </a:xfrm>
          <a:prstGeom prst="downArrow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4128" y="4937760"/>
            <a:ext cx="201168" cy="201168"/>
          </a:xfrm>
          <a:prstGeom prst="ellipse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99616" y="4937760"/>
            <a:ext cx="201168" cy="201168"/>
          </a:xfrm>
          <a:prstGeom prst="ellipse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75104" y="4937760"/>
            <a:ext cx="201168" cy="201168"/>
          </a:xfrm>
          <a:prstGeom prst="ellipse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2416" y="5175504"/>
            <a:ext cx="164592" cy="164592"/>
          </a:xfrm>
          <a:prstGeom prst="ellipse">
            <a:avLst/>
          </a:prstGeom>
          <a:solidFill>
            <a:srgbClr val="9E9AB4"/>
          </a:solidFill>
          <a:ln w="12700">
            <a:solidFill>
              <a:srgbClr val="9E9AB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17904" y="5175504"/>
            <a:ext cx="164592" cy="164592"/>
          </a:xfrm>
          <a:prstGeom prst="ellipse">
            <a:avLst/>
          </a:prstGeom>
          <a:solidFill>
            <a:srgbClr val="9E9AB4"/>
          </a:solidFill>
          <a:ln w="12700">
            <a:solidFill>
              <a:srgbClr val="9E9AB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93392" y="5175504"/>
            <a:ext cx="164592" cy="164592"/>
          </a:xfrm>
          <a:prstGeom prst="ellipse">
            <a:avLst/>
          </a:prstGeom>
          <a:solidFill>
            <a:srgbClr val="9E9AB4"/>
          </a:solidFill>
          <a:ln w="12700">
            <a:solidFill>
              <a:srgbClr val="9E9A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video suyo agota el producto en dos días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651760" y="4315968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9504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 entre pares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2651760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recomendación de usuario a usuario mueve más gente que un anuncio pagado.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651760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video de TikTok que deja sin existencias un producto en dos días.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04204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0508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73256" y="4315968"/>
            <a:ext cx="542056" cy="1042416"/>
          </a:xfrm>
          <a:prstGeom prst="roundRect">
            <a:avLst>
              <a:gd name="adj" fmla="val 13495"/>
            </a:avLst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18976" y="4389120"/>
            <a:ext cx="45061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59640" y="4315968"/>
            <a:ext cx="542056" cy="1042416"/>
          </a:xfrm>
          <a:prstGeom prst="roundRect">
            <a:avLst>
              <a:gd name="adj" fmla="val 13495"/>
            </a:avLst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05360" y="4389120"/>
            <a:ext cx="45061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18976" y="4425696"/>
            <a:ext cx="450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50" b="1" dirty="0">
                <a:solidFill>
                  <a:srgbClr val="046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José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6664696" y="4626864"/>
            <a:ext cx="359176" cy="256032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64696" y="4626864"/>
            <a:ext cx="359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Abrigo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7405360" y="4425696"/>
            <a:ext cx="450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Limón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451080" y="4626864"/>
            <a:ext cx="359176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51080" y="4626864"/>
            <a:ext cx="359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Camiseta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423660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tienda, promociones distintas por zona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289036" y="4315968"/>
            <a:ext cx="128016" cy="128016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26780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por perfil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8289036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contenido distinto según la edad, la zona o los gustos de cada grupo de clientes.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289036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promociones diferentes para clientes de San José y de Limón.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1248" y="6053328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demografía digital el cliente ya no es solo quien compra: también informa, recomienda y convence a los demás.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566160"/>
            <a:ext cx="3108960" cy="310896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822960"/>
            <a:ext cx="2194560" cy="219456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517904"/>
            <a:ext cx="201168" cy="201168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517904"/>
            <a:ext cx="201168" cy="20116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517904"/>
            <a:ext cx="201168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9616" y="1517904"/>
            <a:ext cx="201168" cy="201168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10512" y="1517904"/>
            <a:ext cx="20116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1408" y="1517904"/>
            <a:ext cx="201168" cy="201168"/>
          </a:xfrm>
          <a:prstGeom prst="rect">
            <a:avLst/>
          </a:prstGeom>
          <a:solidFill>
            <a:srgbClr val="8B7BC7"/>
          </a:solidFill>
          <a:ln w="12700">
            <a:solidFill>
              <a:srgbClr val="8B7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0607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3 DE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0116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Trabajadores digitales y ecosistemas seguros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66928" y="3374136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552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cambia el trabajo por efecto de las tecnologías de información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886200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673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Cuáles tareas se automatizan y cuáles siguen siendo de las personas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398264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793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riesgos de seguridad trae estar todos conectados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5486400"/>
            <a:ext cx="6949440" cy="694944"/>
          </a:xfrm>
          <a:prstGeom prst="roundRect">
            <a:avLst>
              <a:gd name="adj" fmla="val 5263"/>
            </a:avLst>
          </a:prstGeom>
          <a:solidFill>
            <a:srgbClr val="2A2842"/>
          </a:solidFill>
          <a:ln w="12700">
            <a:solidFill>
              <a:srgbClr val="3A38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486400"/>
            <a:ext cx="6492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 esta lección: </a:t>
            </a:r>
            <a:pPr indent="0" marL="0">
              <a:buNone/>
            </a:pPr>
            <a:r>
              <a:rPr lang="en-US" sz="1300" dirty="0">
                <a:solidFill>
                  <a:srgbClr val="C9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3, taller con una investigación corta.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TRABAJADORES DIGITALES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93776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Trabajadores digitales: cambio de los ámbitos laborales por impacto de TI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5096" cy="402336"/>
          </a:xfrm>
          <a:prstGeom prst="rect">
            <a:avLst/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87552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2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programador no solo escribe código: también le cambia el día a día a las personas que van a usar su sistema.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tecnologías de información no eliminan el trabajo: lo transforman. Cambian dónde se trabaja, cuáles tareas hace la persona y cuáles se le dejan a la máquina.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35608" y="2249424"/>
            <a:ext cx="347472" cy="292608"/>
          </a:xfrm>
          <a:prstGeom prst="cloud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2779776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596896"/>
            <a:ext cx="566928" cy="201168"/>
          </a:xfrm>
          <a:prstGeom prst="triangle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779776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28800" y="2779776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779776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124712" y="2578608"/>
            <a:ext cx="484632" cy="18288"/>
          </a:xfrm>
          <a:prstGeom prst="rect">
            <a:avLst/>
          </a:prstGeom>
          <a:solidFill>
            <a:srgbClr val="9E9AB4"/>
          </a:solidFill>
          <a:ln w="12700">
            <a:solidFill>
              <a:srgbClr val="9E9A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9344" y="2578608"/>
            <a:ext cx="484632" cy="18288"/>
          </a:xfrm>
          <a:prstGeom prst="rect">
            <a:avLst/>
          </a:prstGeom>
          <a:solidFill>
            <a:srgbClr val="9E9AB4"/>
          </a:solidFill>
          <a:ln w="12700">
            <a:solidFill>
              <a:srgbClr val="9E9A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2578608"/>
            <a:ext cx="18288" cy="219456"/>
          </a:xfrm>
          <a:prstGeom prst="rect">
            <a:avLst/>
          </a:prstGeom>
          <a:solidFill>
            <a:srgbClr val="9E9AB4"/>
          </a:solidFill>
          <a:ln w="12700">
            <a:solidFill>
              <a:srgbClr val="9E9A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4832" y="2578608"/>
            <a:ext cx="18288" cy="219456"/>
          </a:xfrm>
          <a:prstGeom prst="rect">
            <a:avLst/>
          </a:prstGeom>
          <a:solidFill>
            <a:srgbClr val="9E9AB4"/>
          </a:solidFill>
          <a:ln w="12700">
            <a:solidFill>
              <a:srgbClr val="9E9A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desde Cartago a un cliente en Estados Unidos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51760" y="2212848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9504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Teletrabajo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51760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desde la casa o desde otro lugar, conectado a la empresa por internet.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dar soporte técnico desde Cartago a un cliente en Estados Unidos.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04204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0508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4828" y="226771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2260" y="226771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hace una venta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155180" y="2569464"/>
            <a:ext cx="173736" cy="146304"/>
          </a:xfrm>
          <a:prstGeom prst="downArrow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4828" y="2743200"/>
            <a:ext cx="365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4828" y="27432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63740" y="2743200"/>
            <a:ext cx="365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63740" y="27432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02652" y="2743200"/>
            <a:ext cx="365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02652" y="27432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23660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facturas electrónicas salen solas: nadie las digita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289036" y="2212848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26780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tareas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89036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se encarga de lo repetitivo y mecánico, sin que nadie lo digite.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89036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generar y enviar las facturas electrónicas de forma automática.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" y="4370832"/>
            <a:ext cx="14904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" y="4370832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propone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609344" y="4498848"/>
            <a:ext cx="640080" cy="22860"/>
          </a:xfrm>
          <a:prstGeom prst="rect">
            <a:avLst/>
          </a:prstGeom>
          <a:solidFill>
            <a:srgbClr val="C9C5D8"/>
          </a:solidFill>
          <a:ln w="12700">
            <a:solidFill>
              <a:srgbClr val="C9C5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09344" y="4626864"/>
            <a:ext cx="640080" cy="22860"/>
          </a:xfrm>
          <a:prstGeom prst="rect">
            <a:avLst/>
          </a:prstGeom>
          <a:solidFill>
            <a:srgbClr val="C9C5D8"/>
          </a:solidFill>
          <a:ln w="12700">
            <a:solidFill>
              <a:srgbClr val="C9C5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17904" y="4809744"/>
            <a:ext cx="173736" cy="128016"/>
          </a:xfrm>
          <a:prstGeom prst="downArrow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9536" y="4974336"/>
            <a:ext cx="1490472" cy="402336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2688" y="497433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revisa, corrige y decide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86384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dirige sigue siendo el programador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651760" y="4315968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89504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con IA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2651760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propone y la persona revisa, corrige y decide: quien dirige sigue siendo la persona.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651760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el programador que corrige el código que le sugiere la IA.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204204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0508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6812" y="43342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96812" y="4517136"/>
            <a:ext cx="71323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24244" y="45171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283196" y="43342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046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283196" y="4517136"/>
            <a:ext cx="71323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0628" y="45171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283196" y="4791456"/>
            <a:ext cx="713232" cy="237744"/>
          </a:xfrm>
          <a:prstGeom prst="roundRect">
            <a:avLst>
              <a:gd name="adj" fmla="val 19231"/>
            </a:avLst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0628" y="479145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Asesorar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283196" y="5065776"/>
            <a:ext cx="713232" cy="237744"/>
          </a:xfrm>
          <a:prstGeom prst="roundRect">
            <a:avLst>
              <a:gd name="adj" fmla="val 19231"/>
            </a:avLst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0628" y="50657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423660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puesto no desaparece: se le agregan tareas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289036" y="4315968"/>
            <a:ext cx="128016" cy="128016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26780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que cambian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8289036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puesto no desaparece: se le agregan tareas digitales que antes no tenía.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8289036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el cajero de una tienda que pasa a asesorar y a manejar el sistema.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1248" y="6053328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aparecen puestos nuevos, como analista de datos, y por eso hay que recapacitarse: aprender habilidades nuevas durante toda la vida laboral.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ECOSISTEMAS SEGUROS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93776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Ecosistemas seguros: interconexiones, riesgos, servicios y productos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5096" cy="402336"/>
          </a:xfrm>
          <a:prstGeom prst="rect">
            <a:avLst/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87552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2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mal protegido no solo pone en riesgo a su dueño: pone en riesgo a todos los que están conectados a él.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ecosistema digital es el conjunto de empresas, clientes y proveedores conectados entre sí por sus sistemas. Como todos comparten información, la seguridad de uno afecta a todos los demás.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2596896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59689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59536" y="2249424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24942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SINPE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737360" y="2249424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4792" y="224942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Encomiendas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261872" y="3035808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9304" y="30358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353312" y="2542032"/>
            <a:ext cx="146304" cy="18288"/>
          </a:xfrm>
          <a:prstGeom prst="rect">
            <a:avLst/>
          </a:prstGeom>
          <a:solidFill>
            <a:srgbClr val="6B6880"/>
          </a:solidFill>
          <a:ln w="12700">
            <a:solidFill>
              <a:srgbClr val="6B68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2542032"/>
            <a:ext cx="128016" cy="18288"/>
          </a:xfrm>
          <a:prstGeom prst="rect">
            <a:avLst/>
          </a:prstGeom>
          <a:solidFill>
            <a:srgbClr val="6B6880"/>
          </a:solidFill>
          <a:ln w="12700">
            <a:solidFill>
              <a:srgbClr val="6B68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2926080"/>
            <a:ext cx="18288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socio falla, todos quedan expuestos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51760" y="2212848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y cadena de confianza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51760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socios conectados. Es tan segura como su eslabón más débil.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proveedor con el sistema sin actualizar le abre la puerta al atacante.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04204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0508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8524" y="2286000"/>
            <a:ext cx="15270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8524" y="2286000"/>
            <a:ext cx="152704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1676" y="2286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BANC0 NACIONAL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551676" y="25237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"Confirme su clave o su cuenta será bloqueada"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551676" y="28803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banco-nacionaI.cr/verificar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423660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como el banco, pero el nombre y el enlace están mal escritos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289036" y="2212848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26780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89036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o mensaje falso que imita a una entidad conocida para robar datos o claves.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89036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mensaje de texto que se hace pasar por el banco y pide la contraseña.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" y="4370832"/>
            <a:ext cx="1417320" cy="822960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81328" y="4535424"/>
            <a:ext cx="237744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17904" y="4425696"/>
            <a:ext cx="164592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" y="4773168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archivos están bloqueados. Pague para recuperarlos.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86384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sigue ahí, pero nadie puede abrirla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651760" y="4315968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9504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2651760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que secuestra la información de la organización y pide un rescate para devolverla.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651760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una clínica que se queda sin acceso a los expedientes de sus pacientes.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204204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0508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6812" y="433425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5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ENVIADO AL CELULAR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496812" y="4517136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6812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46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99148" y="4517136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99148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46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01484" y="4517136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01484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46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03820" y="4517136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03820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46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569964" y="4937760"/>
            <a:ext cx="438912" cy="347472"/>
          </a:xfrm>
          <a:prstGeom prst="cloud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63740" y="49560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diario y cifrado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423660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comprobaciones y una copia guardada aparte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289036" y="4315968"/>
            <a:ext cx="128016" cy="128016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26780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protegerse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8289036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dos pasos, más respaldo y cifrado de la información.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289036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el código que llega al celular y el respaldo diario en la nube de una pyme.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1248" y="6053328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conexión es también una puerta: el phishing y el ransomware son riesgos; los dos pasos, el respaldo y el cifrado son protecciones.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566160"/>
            <a:ext cx="3108960" cy="310896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822960"/>
            <a:ext cx="2194560" cy="219456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517904"/>
            <a:ext cx="201168" cy="201168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517904"/>
            <a:ext cx="201168" cy="20116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517904"/>
            <a:ext cx="201168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9616" y="1517904"/>
            <a:ext cx="201168" cy="201168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10512" y="1517904"/>
            <a:ext cx="20116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1408" y="1517904"/>
            <a:ext cx="201168" cy="201168"/>
          </a:xfrm>
          <a:prstGeom prst="rect">
            <a:avLst/>
          </a:prstGeom>
          <a:solidFill>
            <a:srgbClr val="8B7BC7"/>
          </a:solidFill>
          <a:ln w="12700">
            <a:solidFill>
              <a:srgbClr val="8B7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0607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4 DE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0116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individual y el impacto en el mercado costarricense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66928" y="3374136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552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atender demandas masivas en tiempo real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886200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673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personaliza la atención sin dejar de ser masiva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398264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793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viable es cada tecnología en el mercado local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5486400"/>
            <a:ext cx="6949440" cy="694944"/>
          </a:xfrm>
          <a:prstGeom prst="roundRect">
            <a:avLst>
              <a:gd name="adj" fmla="val 5263"/>
            </a:avLst>
          </a:prstGeom>
          <a:solidFill>
            <a:srgbClr val="2A2842"/>
          </a:solidFill>
          <a:ln w="12700">
            <a:solidFill>
              <a:srgbClr val="3A38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486400"/>
            <a:ext cx="6492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 esta lección: </a:t>
            </a:r>
            <a:pPr indent="0" marL="0">
              <a:buNone/>
            </a:pPr>
            <a:r>
              <a:rPr lang="en-US" sz="1300" dirty="0">
                <a:solidFill>
                  <a:srgbClr val="C9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4, resolución de problemas que integra todo el bloque.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MERCADO INDIVIDUAL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93776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individual: satisfacer demandas masivas en tiempo real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5096" cy="402336"/>
          </a:xfrm>
          <a:prstGeom prst="rect">
            <a:avLst/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87552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2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Personalizar en tiempo real es un problema de programación: datos guardados, reglas claras y respuesta rápida.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individual busca atender a miles de clientes a la vez, pero tratando a cada uno como si fuera único y respondiéndole al instante. Es masivo por fuera y personal por dentro.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340864"/>
            <a:ext cx="173736" cy="173736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3042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92124" y="2505456"/>
            <a:ext cx="18288" cy="118872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670048"/>
            <a:ext cx="173736" cy="173736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633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preparación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92124" y="2834640"/>
            <a:ext cx="18288" cy="118872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999232"/>
            <a:ext cx="173736" cy="173736"/>
          </a:xfrm>
          <a:prstGeom prst="ellipse">
            <a:avLst/>
          </a:prstGeom>
          <a:solidFill>
            <a:srgbClr val="D5D2E0"/>
          </a:solidFill>
          <a:ln w="12700">
            <a:solidFill>
              <a:srgbClr val="D5D2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2962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camino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6384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cambia en el momento en que pasa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51760" y="2212848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9504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651760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ocurre en el momento en que la cosa pasa, sin esperas ni trámites.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ver en el mapa dónde viene el repartidor con el pedido.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04204" y="195681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0508" y="212140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6812" y="2267712"/>
            <a:ext cx="1527048" cy="219456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9964" y="22677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Ana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96812" y="2487168"/>
            <a:ext cx="152704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9964" y="2487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Casado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47788" y="24871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veces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496812" y="2724912"/>
            <a:ext cx="152704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9964" y="27249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 de carne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447788" y="272491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vez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496812" y="2962656"/>
            <a:ext cx="152704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9964" y="29626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 pinto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447788" y="29626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veces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23660" y="332841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estos datos guardados no se puede personalizar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289036" y="2212848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26780" y="212140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cliente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89036" y="248716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guardado de cada persona: sin datos ordenados no hay personalización posible.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89036" y="329184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el historial de compras guardado en la base de datos del negocio.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" y="4407408"/>
            <a:ext cx="15270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0976" y="4480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5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VOS, ANA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950976" y="46817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Arroz con pollo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50976" y="4919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pediste casado 3 veces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86384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cliente ve una sugerencia distinta en la misma app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651760" y="4315968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89504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personalizada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2651760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Sugerirle a cada quien según lo que ya hizo o compró antes.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51760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“porque pediste casado, probá el arroz con pollo del jueves”.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204204" y="4059936"/>
            <a:ext cx="5417820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50508" y="4224528"/>
            <a:ext cx="1783080" cy="1609344"/>
          </a:xfrm>
          <a:prstGeom prst="roundRect">
            <a:avLst>
              <a:gd name="adj" fmla="val 2841"/>
            </a:avLst>
          </a:prstGeom>
          <a:solidFill>
            <a:srgbClr val="F4F2FA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66265" y="4297680"/>
            <a:ext cx="551566" cy="1060704"/>
          </a:xfrm>
          <a:prstGeom prst="roundRect">
            <a:avLst>
              <a:gd name="adj" fmla="val 13263"/>
            </a:avLst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11985" y="4370832"/>
            <a:ext cx="46012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11985" y="4407408"/>
            <a:ext cx="4601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9:40 p. m.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011985" y="4590288"/>
            <a:ext cx="460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</a:t>
            </a:r>
            <a:endParaRPr lang="en-US" sz="650" dirty="0"/>
          </a:p>
          <a:p>
            <a:pPr algn="ctr" indent="0" marL="0">
              <a:lnSpc>
                <a:spcPts val="850"/>
              </a:lnSpc>
              <a:buNone/>
            </a:pPr>
            <a:r>
              <a:rPr lang="en-US" sz="6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048561" y="4937760"/>
            <a:ext cx="386974" cy="201168"/>
          </a:xfrm>
          <a:prstGeom prst="roundRect">
            <a:avLst>
              <a:gd name="adj" fmla="val 22727"/>
            </a:avLst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75993" y="4937760"/>
            <a:ext cx="3321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423660" y="54315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resuelve solo, sin horario de oficina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289036" y="4315968"/>
            <a:ext cx="128016" cy="128016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26780" y="4224528"/>
            <a:ext cx="2894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 digital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8289036" y="4590288"/>
            <a:ext cx="31318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resuelve solo, sin depender de un horario de oficina ni de una persona.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289036" y="5394960"/>
            <a:ext cx="31318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sacar una cita en la clínica desde el celular un domingo.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66928" y="6053328"/>
            <a:ext cx="11055096" cy="566928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1248" y="6053328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depende de la adopción en el mercado local: SINPE Móvil se usa hasta en las ferias del agricultor porque casi todo el mundo aquí tiene celular.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SÍNTESIS Y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93776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me llevo de las cuatro lecciones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5096" cy="402336"/>
          </a:xfrm>
          <a:prstGeom prst="rect">
            <a:avLst/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87552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2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tu lista de control: seis preguntas para mirar cualquier tecnología antes de proponérsela a un cliente.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53263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737360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645920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impacto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1993392"/>
            <a:ext cx="3130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cuál parte de la organización le pega: el negocio, los procesos, los clientes o las personas?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8160" y="1517904"/>
            <a:ext cx="353263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9328" y="1737360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0496" y="1645920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posdigital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9328" y="1993392"/>
            <a:ext cx="3130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inteligencia artificial, realidad aumentada o virtual, registro distribuido o computación cuántica?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9392" y="1517904"/>
            <a:ext cx="353263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0560" y="1737360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1728" y="1645920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Demografía digital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0560" y="1993392"/>
            <a:ext cx="3130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informan y cómo se influyen entre sí los clientes antes de comprar?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2761488"/>
            <a:ext cx="353263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2980944"/>
            <a:ext cx="128016" cy="128016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2889504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Trabajadores digitales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" y="3236976"/>
            <a:ext cx="3130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tareas cambian y qué tiene que aprender de nuevo la gente que ahí trabaja?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28160" y="2761488"/>
            <a:ext cx="353263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9328" y="2980944"/>
            <a:ext cx="128016" cy="1280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0496" y="2889504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Ecosistemas seguros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29328" y="3236976"/>
            <a:ext cx="3130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quién queda conectada la empresa y cuál es el eslabón más débil de esa cadena?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89392" y="2761488"/>
            <a:ext cx="353263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0560" y="2980944"/>
            <a:ext cx="128016" cy="128016"/>
          </a:xfrm>
          <a:prstGeom prst="rect">
            <a:avLst/>
          </a:prstGeom>
          <a:solidFill>
            <a:srgbClr val="8B7BC7"/>
          </a:solidFill>
          <a:ln w="12700">
            <a:solidFill>
              <a:srgbClr val="8B7B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91728" y="2889504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individual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90560" y="3236976"/>
            <a:ext cx="3130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atender a cada cliente como único, en tiempo real y con lo que hay en el país?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40416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DOCUMENTOS DE PRÁCTICA DEL BLOQUE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4297680"/>
            <a:ext cx="2612898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4480560"/>
            <a:ext cx="128016" cy="128016"/>
          </a:xfrm>
          <a:prstGeom prst="rect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4407408"/>
            <a:ext cx="2064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9808" y="4681728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trabajo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9808" y="4974336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impacto, IA y realidad aumentada o virtual.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80994" y="4297680"/>
            <a:ext cx="2612898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3874" y="4480560"/>
            <a:ext cx="128016" cy="12801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5042" y="4407408"/>
            <a:ext cx="2064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2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563874" y="4681728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casos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563874" y="4974336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distribuido, cuántica y demografía digital.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95060" y="4297680"/>
            <a:ext cx="2612898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77940" y="4480560"/>
            <a:ext cx="128016" cy="1280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9108" y="4407408"/>
            <a:ext cx="2064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3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377940" y="4681728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e investigación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377940" y="4974336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Trabajadores digitales y ecosistemas seguros.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009126" y="4297680"/>
            <a:ext cx="2612898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92006" y="4480560"/>
            <a:ext cx="128016" cy="128016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93174" y="4407408"/>
            <a:ext cx="2064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6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4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192006" y="4681728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192006" y="4974336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individual e integración de todo el bloque.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6928" y="5669280"/>
            <a:ext cx="11055096" cy="914400"/>
          </a:xfrm>
          <a:prstGeom prst="rect">
            <a:avLst/>
          </a:prstGeom>
          <a:solidFill>
            <a:srgbClr val="1C1B2E"/>
          </a:solidFill>
          <a:ln w="12700">
            <a:solidFill>
              <a:srgbClr val="1C1B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5669280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no es cuál tecnología es la más avanzada, sino cuál resuelve el problema de este negocio, en este país y con estos clientes.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2026-08-05T20:27:19Z</dcterms:created>
  <dcterms:modified xsi:type="dcterms:W3CDTF">2026-08-05T20:27:19Z</dcterms:modified>
</cp:coreProperties>
</file>