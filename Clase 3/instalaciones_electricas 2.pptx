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0779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"/>
            <a:ext cx="164592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7432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7B6C"/>
                </a:solidFill>
              </a:rPr>
              <a:t>FÍSICA  •  ELECTRICIDAD Y MAGNETISMO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INSTALACIONES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F7B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ELÉCTRICAS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RESIDENCIALES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4114800" cy="4572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401568"/>
            <a:ext cx="73152" cy="201168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4015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</a:rPr>
              <a:t>Introducción a instalaciones residenciales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85616"/>
            <a:ext cx="73152" cy="201168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856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</a:rPr>
              <a:t>Componentes principales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73152" cy="201168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16966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</a:rPr>
              <a:t>Conexiones: 2H · 3H · Trifásica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0"/>
            <a:ext cx="8229600" cy="54864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A73C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INTRODUCCIÓN +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0"/>
                </a:solidFill>
              </a:rPr>
              <a:t>¿Qué hay en una instalación eléctrica residencial y para qué sirve?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389120"/>
            <a:ext cx="1645920" cy="329184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3891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Lección 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🏠  ¿QUÉ ES UNA INSTALACIÓN ELÉCTRICA RESIDENCIAL?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9144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Conjunto de cables, protecciones y dispositivos que llevan la energía desde la red pública hasta los aparatos del hogar de forma segura y eficiente.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150876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745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Empresa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eléctrica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83080" y="1874520"/>
            <a:ext cx="210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2A4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93392" y="1874520"/>
            <a:ext cx="1508760" cy="86868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8745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Medidor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02152" y="1874520"/>
            <a:ext cx="210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2A4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12464" y="1874520"/>
            <a:ext cx="1508760" cy="86868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18745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Tablero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(panel)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21224" y="1874520"/>
            <a:ext cx="210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2A4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31536" y="1874520"/>
            <a:ext cx="1508760" cy="8686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18745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Circuitos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derivados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0296" y="1874520"/>
            <a:ext cx="2103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2A4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50608" y="1874520"/>
            <a:ext cx="1508760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1874520"/>
            <a:ext cx="1508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Cargas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(usos)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26080"/>
            <a:ext cx="73152" cy="192024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992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Normativa en CR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36499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NFPA 70 (NEC) y reglamento del ICE/CNFL. Regula calibres, colores, protecciones y distancias.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26080"/>
            <a:ext cx="73152" cy="192024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9992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Tipos de instalación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36499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Residencial (casas/aptos), comercial (locales) e industrial (fábricas). Cambian en tensión y capacidad.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26080"/>
            <a:ext cx="73152" cy="192024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9992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</a:rPr>
              <a:t>¿Por qué importa?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336499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Una instalación mal hecha provoca incendios, electrocuciones y pérdidas económicas.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🔧  COMPONENTES PRINCIPALES (1/2)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731520" cy="109728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43000" y="822960"/>
            <a:ext cx="7680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822960"/>
            <a:ext cx="73152" cy="109728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914400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</a:rPr>
              <a:t>Medidor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26187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Registra el consumo en kWh. Es propiedad de la empresa distribuidora (ICE, CNFL). Nadie puede manipularlo sin autorización.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731520" cy="109728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9456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143000" y="2194560"/>
            <a:ext cx="7680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2194560"/>
            <a:ext cx="73152" cy="109728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2286000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</a:rPr>
              <a:t>Tablero de distribución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63347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Aloja los breakers. Puede ser monofásico (2 rieles) o trifásico (3 rieles). Es el corazón de la instalación.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731520" cy="10972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56616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143000" y="3566160"/>
            <a:ext cx="7680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3566160"/>
            <a:ext cx="73152" cy="10972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3657600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</a:rPr>
              <a:t>Breaker (interruptor termomagnético)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00507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Protege el circuito contra sobrecarga y cortocircuito. Cada circuito tiene el suyo. Se calibra según la carga.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🔧  COMPONENTES PRINCIPALES (2/2)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731520" cy="109728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43000" y="822960"/>
            <a:ext cx="7680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822960"/>
            <a:ext cx="73152" cy="109728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914400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</a:rPr>
              <a:t>Conductores (cables)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26187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Fase: negro o rojo · Neutro: blanco o azul · Tierra: verde o amarillo. El calibre (AWG) define cuánta corriente soportan.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731520" cy="109728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9456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05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143000" y="2194560"/>
            <a:ext cx="7680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2194560"/>
            <a:ext cx="73152" cy="109728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2286000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</a:rPr>
              <a:t>Tomacorrientes y apagadores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63347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Puntos de uso. Los tomacorrientes modernos son polarizados (con tierra). En zonas húmedas se usa GFCI (protección diferencial).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731520" cy="10972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56616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06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143000" y="3566160"/>
            <a:ext cx="7680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3566160"/>
            <a:ext cx="73152" cy="10972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3657600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</a:rPr>
              <a:t>Tierra física (electrodo)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00507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Varilla de cobre enterrada al menos 2.4 m. Lleva las fallas a tierra, evitando electrocuciones. Obligatoria en CR.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FF8E0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4F00"/>
                </a:solidFill>
              </a:rPr>
              <a:t>💡  Regla de colores: NEGRO/ROJO = peligro (fase)  ·  BLANCO/AZUL = neutro  ·  VERDE/AMARILLO = tierra física (seguridad)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✏️  ACTIVIDAD — IDENTIFICA EL COMPONENTE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</a:rPr>
              <a:t>Muestra</a:t>
            </a:r>
            <a:r>
              <a:rPr lang="en-US" sz="1300" dirty="0">
                <a:solidFill>
                  <a:srgbClr val="FFFFFF"/>
                </a:solidFill>
              </a:rPr>
              <a:t> fotos de componentes reales. Identifica qué es cada uno y escribe su función en la hoja de trabajo.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011680" cy="123444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56232"/>
            <a:ext cx="1645920" cy="54864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562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BD5E0"/>
                </a:solidFill>
              </a:rPr>
              <a:t>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Medidor kWh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1691640"/>
            <a:ext cx="2011680" cy="123444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33472" y="1856232"/>
            <a:ext cx="1645920" cy="54864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18562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BD5E0"/>
                </a:solidFill>
              </a:rPr>
              <a:t>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42032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Tablero monofásico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691640"/>
            <a:ext cx="2011680" cy="123444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9744" y="1856232"/>
            <a:ext cx="1645920" cy="54864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18562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BD5E0"/>
                </a:solidFill>
              </a:rPr>
              <a:t>?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18304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Breaker 15 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03136" y="1691640"/>
            <a:ext cx="2011680" cy="123444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86016" y="1856232"/>
            <a:ext cx="1645920" cy="54864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86016" y="18562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BD5E0"/>
                </a:solidFill>
              </a:rPr>
              <a:t>?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94576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Breaker 20 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2011680" cy="123444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73552"/>
            <a:ext cx="1645920" cy="54864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7355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BD5E0"/>
                </a:solidFill>
              </a:rPr>
              <a:t>?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6576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Cable AWG #12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50592" y="3108960"/>
            <a:ext cx="2011680" cy="123444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33472" y="3273552"/>
            <a:ext cx="1645920" cy="54864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33472" y="327355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BD5E0"/>
                </a:solidFill>
              </a:rPr>
              <a:t>?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2542032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Tomacorriente GFCI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26864" y="3108960"/>
            <a:ext cx="2011680" cy="123444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9744" y="3273552"/>
            <a:ext cx="1645920" cy="54864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327355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BD5E0"/>
                </a:solidFill>
              </a:rPr>
              <a:t>?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718304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Apagador simple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03136" y="3108960"/>
            <a:ext cx="2011680" cy="123444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86016" y="3273552"/>
            <a:ext cx="1645920" cy="548640"/>
          </a:xfrm>
          <a:prstGeom prst="rect">
            <a:avLst/>
          </a:prstGeom>
          <a:solidFill>
            <a:srgbClr val="1A2A4A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86016" y="327355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BD5E0"/>
                </a:solidFill>
              </a:rPr>
              <a:t>?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894576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Varilla de tierra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2A4"/>
                </a:solidFill>
              </a:rPr>
              <a:t>Hoja de trabajo disponible en Word  →  anota tu respuesta junto a cada número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0"/>
            <a:ext cx="8229600" cy="54864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F7B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TIPOS DE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CONEXIÓN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0"/>
                </a:solidFill>
              </a:rPr>
              <a:t>Monofásica 2H · Monofásica 3H · Trifásica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389120"/>
            <a:ext cx="1645920" cy="329184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3891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Lección 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〰  MONOFÁSICA 2 HILOS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3891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C8"/>
                </a:solidFill>
              </a:rPr>
              <a:t>Características: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109728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984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Conductores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12984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1 Fase + 1 Neutro (sin tierra)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109728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019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Tensión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19019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120 V entre fase y neutro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505456"/>
            <a:ext cx="109728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054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Uso típico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50545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Casas antiguas, zonas rurales,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iluminación básica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108960"/>
            <a:ext cx="109728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Riesgo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72768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Sin tierra = mayor peligro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ante falla eléctrica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712464"/>
            <a:ext cx="109728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124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Estado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371246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En desuso en construcción nueva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804672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</a:rPr>
              <a:t>Esquema — 2 conductores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1371600"/>
            <a:ext cx="1097280" cy="8229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3716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120V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572768"/>
            <a:ext cx="1371600" cy="1280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3716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Fase (negro)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1883664"/>
            <a:ext cx="1371600" cy="128016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0116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</a:rPr>
              <a:t>Neutro (blanco)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80960" y="1325880"/>
            <a:ext cx="822960" cy="914400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45552" y="1481328"/>
            <a:ext cx="109728" cy="25603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10144" y="1481328"/>
            <a:ext cx="109728" cy="25603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226771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</a:rPr>
              <a:t>Toma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</a:rPr>
              <a:t>2P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74920" y="2880360"/>
            <a:ext cx="3657600" cy="164592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2971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54D0E"/>
                </a:solidFill>
              </a:rPr>
              <a:t>⚠ Sin tierra física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66360" y="3310128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54D0E"/>
                </a:solidFill>
              </a:rPr>
              <a:t>En caso de falla en el aislamiento, la carcasa metálica de un electrodoméstico queda energizada — riesgo de electrocución al tocarla.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〰〰  MONOFÁSICA 3 HILOS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3891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B6C"/>
                </a:solidFill>
              </a:rPr>
              <a:t>Estándar actual en Costa Rica: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109728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984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Conductores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12984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1 Fase + 1 Neutro + 1 Tierra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109728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019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120 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19019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Entre fase y neutro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(iluminación, tomas normales)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505456"/>
            <a:ext cx="109728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054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240 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50545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Entre los 2 rieles de fase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(ducha, A/C, secadora)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108960"/>
            <a:ext cx="109728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Tierra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72768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No conduce en operación normal.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Solo actúa en falla.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712464"/>
            <a:ext cx="109728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124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Panel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371246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2 rieles de fase + barra 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neutro + barra de tierra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804672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</a:rPr>
              <a:t>Esquema — 3 conductores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1325880"/>
            <a:ext cx="1097280" cy="12801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32588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120/240V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508760"/>
            <a:ext cx="1371600" cy="12801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3441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</a:rPr>
              <a:t>Fase (negro)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828800"/>
            <a:ext cx="1371600" cy="128016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66420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</a:rPr>
              <a:t>Neutro (blanco)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2148840"/>
            <a:ext cx="1371600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98424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</a:rPr>
              <a:t>Tierra (verde)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80960" y="1298448"/>
            <a:ext cx="822960" cy="1005840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45552" y="1444752"/>
            <a:ext cx="109728" cy="2743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10144" y="1444752"/>
            <a:ext cx="109728" cy="2743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91272" y="1792224"/>
            <a:ext cx="182880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2331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</a:rPr>
              <a:t>Toma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</a:rPr>
              <a:t>3P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74920" y="2834640"/>
            <a:ext cx="3657600" cy="1920240"/>
          </a:xfrm>
          <a:prstGeom prst="rect">
            <a:avLst/>
          </a:prstGeom>
          <a:solidFill>
            <a:srgbClr val="E0F2FE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F44"/>
                </a:solidFill>
              </a:rPr>
              <a:t>¿Cómo se obtienen los 240 V?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66360" y="3273552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E4F44"/>
                </a:solidFill>
              </a:rPr>
              <a:t>El transformador del poste tiene un devanado secundario con un punto medio (neutro). Los 2 extremos son las 2 fases. Entre ellas hay 240 V. Este sistema se llama monofásica split-phase.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⚡⚡⚡  CONEXIÓN TRIFÁSICA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3891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2A"/>
                </a:solidFill>
              </a:rPr>
              <a:t>Sistema trifásico estrella (Y):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109728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984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Fases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12984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3 fases (L1, L2, L3) + Neutro + Tierra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109728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019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120 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19019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Entre cualquier fase y el neutro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505456"/>
            <a:ext cx="109728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054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208 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50545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Entre dos fases cualesquiera (en CR)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108960"/>
            <a:ext cx="109728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Uso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72768" y="3108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Edificios, motores, A/C industrial,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locales comerciales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712464"/>
            <a:ext cx="109728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124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Ventaja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371246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Carga equilibrada entre las 3 fases.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Menor pérdida de energía.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804672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8961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</a:rPr>
              <a:t>Sistema estrella — conductores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4920" y="1261872"/>
            <a:ext cx="34747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261872"/>
            <a:ext cx="3474720" cy="2011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L1 — Fase 1 (rojo)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4920" y="1536192"/>
            <a:ext cx="3474720" cy="2011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1536192"/>
            <a:ext cx="3474720" cy="2011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L2 — Fase 2 (negro)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4920" y="1810512"/>
            <a:ext cx="347472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1810512"/>
            <a:ext cx="3474720" cy="20116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L3 — Fase 3 (azul)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2944368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74920" y="30175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</a:rPr>
              <a:t>Comparación rápida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10912" y="3337560"/>
            <a:ext cx="1207008" cy="310896"/>
          </a:xfrm>
          <a:prstGeom prst="rect">
            <a:avLst/>
          </a:prstGeom>
          <a:solidFill>
            <a:srgbClr val="1A2A4A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65776" y="333756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Tipo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72784" y="3337560"/>
            <a:ext cx="1207008" cy="310896"/>
          </a:xfrm>
          <a:prstGeom prst="rect">
            <a:avLst/>
          </a:prstGeom>
          <a:solidFill>
            <a:srgbClr val="1A2A4A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333756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Conductores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34656" y="3337560"/>
            <a:ext cx="1207008" cy="310896"/>
          </a:xfrm>
          <a:prstGeom prst="rect">
            <a:avLst/>
          </a:prstGeom>
          <a:solidFill>
            <a:srgbClr val="1A2A4A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333756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18"/>
                </a:solidFill>
              </a:rPr>
              <a:t>Tensiones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10912" y="3685032"/>
            <a:ext cx="12070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65776" y="368503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2 hilos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72784" y="3685032"/>
            <a:ext cx="12070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368503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F + 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534656" y="3685032"/>
            <a:ext cx="12070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368503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120 V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10912" y="4032504"/>
            <a:ext cx="1207008" cy="310896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65776" y="403250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3 hilos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72784" y="4032504"/>
            <a:ext cx="1207008" cy="310896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403250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F + N + 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34656" y="4032504"/>
            <a:ext cx="1207008" cy="310896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0" y="403250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120 / 240 V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10912" y="4379976"/>
            <a:ext cx="12070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65776" y="437997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Trifásica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72784" y="4379976"/>
            <a:ext cx="12070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27648" y="437997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3F + N + 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534656" y="4379976"/>
            <a:ext cx="12070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37997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</a:rPr>
              <a:t>120 / 208 V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🃏  ACTIVIDAD — ¿QUÉ CONEXIÓN NECESITA?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6400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En parejas: lean el escenario de su tarjeta y determinen qué tipo de conexión eléctrica aplica y por qué. Tienen 3 minutos.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206240" cy="15087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72768"/>
            <a:ext cx="594360" cy="150876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72768"/>
            <a:ext cx="228600" cy="150876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72768"/>
            <a:ext cx="594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87552" y="168249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518"/>
                </a:solidFill>
              </a:rPr>
              <a:t>Casa de 1 cuarto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198424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Vivienda antigua de 40 m². Solo usa iluminación, televisor y un pequeño refrigerador. No tiene ducha eléctrica.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87552" y="2761488"/>
            <a:ext cx="1463040" cy="237744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7614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Resp: Monofásica 2H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572768"/>
            <a:ext cx="4206240" cy="1508760"/>
          </a:xfrm>
          <a:prstGeom prst="rect">
            <a:avLst/>
          </a:prstGeom>
          <a:solidFill>
            <a:srgbClr val="1A2A4A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572768"/>
            <a:ext cx="594360" cy="150876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1572768"/>
            <a:ext cx="228600" cy="150876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572768"/>
            <a:ext cx="594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B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22392" y="168249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518"/>
                </a:solidFill>
              </a:rPr>
              <a:t>Apartamento moderno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22392" y="1984248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FFFFFF"/>
                </a:solidFill>
              </a:rPr>
              <a:t>Apartamento</a:t>
            </a:r>
            <a:r>
              <a:rPr lang="en-US" sz="1100" dirty="0">
                <a:solidFill>
                  <a:srgbClr val="FFFFFF"/>
                </a:solidFill>
              </a:rPr>
              <a:t> de 60 m². Tiene ducha eléctrica (240V), lavadora, A/C mini-split y cocina de inducción.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22392" y="2761488"/>
            <a:ext cx="1463040" cy="237744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22392" y="27614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Resp: Monofásica 3H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236976"/>
            <a:ext cx="4206240" cy="1508760"/>
          </a:xfrm>
          <a:prstGeom prst="rect">
            <a:avLst/>
          </a:prstGeom>
          <a:solidFill>
            <a:srgbClr val="1A2A4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236976"/>
            <a:ext cx="594360" cy="150876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236976"/>
            <a:ext cx="228600" cy="150876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236976"/>
            <a:ext cx="594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87552" y="334670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518"/>
                </a:solidFill>
              </a:rPr>
              <a:t>Taller de costura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7552" y="3648456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Local con 8 máquinas industriales de coser, 2 planchadoras industriales y sistema de climatización central.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87552" y="4425696"/>
            <a:ext cx="1463040" cy="237744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" y="44256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Resp: Trifásica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236976"/>
            <a:ext cx="4206240" cy="1508760"/>
          </a:xfrm>
          <a:prstGeom prst="rect">
            <a:avLst/>
          </a:prstGeom>
          <a:solidFill>
            <a:srgbClr val="1A2A4A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3236976"/>
            <a:ext cx="594360" cy="150876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74920" y="3236976"/>
            <a:ext cx="228600" cy="150876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236976"/>
            <a:ext cx="594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D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422392" y="334670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518"/>
                </a:solidFill>
              </a:rPr>
              <a:t>Edificio de 4 pisos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22392" y="3648456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Edificio residencial con 16 apartamentos, ascensor, bombas de agua, iluminación de pasillos y garaje.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22392" y="4425696"/>
            <a:ext cx="1463040" cy="237744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22392" y="44256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Resp: Trifásica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5836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📋  RESUMEN GENERAL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114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C8"/>
                </a:solidFill>
              </a:rPr>
              <a:t>Componentes clave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713232" cy="36576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2588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 Medidor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325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Registra consumo kWh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828800"/>
            <a:ext cx="713232" cy="36576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2880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 Tablero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Aloja los breakers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331720"/>
            <a:ext cx="713232" cy="36576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3172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 Breaker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2331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Protege el circuito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713232" cy="36576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3464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 Conductores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 / N / T — colores y calibres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337560"/>
            <a:ext cx="713232" cy="36576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33756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 Tomacorriente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337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Polarizado, GFCI en húmedos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840480"/>
            <a:ext cx="713232" cy="36576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4048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 Tierra física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840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Varilla enterrada 2.4 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822960"/>
            <a:ext cx="4114800" cy="4114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896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B6C"/>
                </a:solidFill>
              </a:rPr>
              <a:t>Tipos de conexión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92040" y="1417320"/>
            <a:ext cx="3840480" cy="9601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73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14721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C8"/>
                </a:solidFill>
              </a:rPr>
              <a:t>Monofásica 2H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10912" y="1783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 + N  ·  120 V  ·  Casas antiguas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2514600"/>
            <a:ext cx="3840480" cy="960120"/>
          </a:xfrm>
          <a:prstGeom prst="rect">
            <a:avLst/>
          </a:prstGeom>
          <a:solidFill>
            <a:srgbClr val="1A2A4A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25694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B6C"/>
                </a:solidFill>
              </a:rPr>
              <a:t>Monofásica 3H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10912" y="2880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 + N + T  ·  120 / 240 V  ·  Residencias modernas CR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3611880"/>
            <a:ext cx="3840480" cy="960120"/>
          </a:xfrm>
          <a:prstGeom prst="rect">
            <a:avLst/>
          </a:prstGeom>
          <a:solidFill>
            <a:srgbClr val="1A2A4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36667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2A"/>
                </a:solidFill>
              </a:rPr>
              <a:t>Trifásica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3977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3F + N + T  ·  120 / 208 V  ·  Edificios · Industria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4645152"/>
            <a:ext cx="4114800" cy="22860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6451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CR usa sistema estrella 120/208V o split-phase 120/240V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1053</Words>
  <Application>Microsoft Office PowerPoint</Application>
  <PresentationFormat>Presentación en pantalla (16:9)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Instalaciones Eléctricas Residenciales</dc:title>
  <dc:subject>PptxGenJS Presentation</dc:subject>
  <dc:creator>PptxGenJS</dc:creator>
  <cp:lastModifiedBy>antoyefruizg04@gmail.com</cp:lastModifiedBy>
  <cp:revision>2</cp:revision>
  <dcterms:created xsi:type="dcterms:W3CDTF">2026-03-12T19:19:34Z</dcterms:created>
  <dcterms:modified xsi:type="dcterms:W3CDTF">2026-03-12T19:51:38Z</dcterms:modified>
</cp:coreProperties>
</file>